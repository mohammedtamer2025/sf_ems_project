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272D"/>
    <a:srgbClr val="1B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263B"/>
                </a:solidFill>
                <a:latin typeface="Calibri"/>
              </a:rPr>
              <a:t>Call Type Group (n = 359,542)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6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Potentially
Life-Threatening</c:v>
                </c:pt>
                <c:pt idx="1">
                  <c:v>Alarm</c:v>
                </c:pt>
                <c:pt idx="2">
                  <c:v>Non
Life-Threatening</c:v>
                </c:pt>
                <c:pt idx="3">
                  <c:v>Fire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176518</c:v>
                </c:pt>
                <c:pt idx="1">
                  <c:v>89896</c:v>
                </c:pt>
                <c:pt idx="2">
                  <c:v>69223</c:v>
                </c:pt>
                <c:pt idx="3">
                  <c:v>14053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86-496F-BB8C-511B099FA8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6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6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0.14758</cdr:x>
      <cdr:y>0</cdr:y>
    </cdr:from>
    <cdr:to>
      <cdr:x>0.77939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7863122-8D5C-C3A5-9D55-53D7D73B1EE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632857" y="0"/>
          <a:ext cx="6990495" cy="448056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29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DISPATCH ANALYTICS  •  SEP 2025 – AUG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 Fire Department &amp; EMS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Response Data Analysis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enrichment, predictive modeling, and dashboards built from 359,542 unit-dispatch records across San Francisco's 911 emergency medical and fire response system.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359,542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UNIT-DISPATCH ROWS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COLUMNS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SPRINT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2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data.sfgov.org/d/nuek-vuh3</a:t>
            </a:r>
            <a:endParaRPr lang="en-US" sz="1000" dirty="0"/>
          </a:p>
        </p:txBody>
      </p:sp>
      <p:pic>
        <p:nvPicPr>
          <p:cNvPr id="19" name="Google Shape;20;p1" descr="/home/claude/reading_deck/NTI_logo_white.png">
            <a:extLst>
              <a:ext uri="{FF2B5EF4-FFF2-40B4-BE49-F238E27FC236}">
                <a16:creationId xmlns:a16="http://schemas.microsoft.com/office/drawing/2014/main" id="{29C5D7C1-94C6-135B-D1DC-6E71F8DF9F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745" y="100390"/>
            <a:ext cx="2582815" cy="12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full-pipeline analytics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San Francisco Fire Department &amp; EMS dispatch data, taken end-to-end: acquisition, cleaning, web-scraped enrichment, feature engineering, predictive modeling, and reporting across Excel, Power BI, and Tableau.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70048" cy="73152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359,542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375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Unit-dispatch rows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77640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snapshot + web-scraped weather, Sep 2025 – Aug 26,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8144" y="22860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38144" y="2286000"/>
            <a:ext cx="2670048" cy="73152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39312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3375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columns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977640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classification, timestamps, location, resources, metadata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7648" y="22860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27648" y="2286000"/>
            <a:ext cx="2670048" cy="73152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28816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3375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calls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977640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Call Type Group, ahead of Alarm (25%) and Fire (4%)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17152" y="22860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17152" y="2286000"/>
            <a:ext cx="2670048" cy="7315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418320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3375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977640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response time from real (uncapped) durations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975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code review, final QA, Excel workbook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16002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2272" y="185623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622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filter, clean, preprocess, export CSV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18704" y="160020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47304" y="185623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147304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holidays &amp; events enrichment via web scraping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895344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949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53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 models in Python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3639312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62272" y="3895344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462272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Dev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4553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dashboard — 3 pages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18704" y="3639312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47304" y="3895344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147304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3949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Dev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4553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interactive dashboard — 3 sheets + dashboard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 driving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the most emergencies happen?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476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 and monthly patterns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161848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503920" y="16184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Power BI — P1, P5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69464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EMS hotspots?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437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neighborhood, station and battalion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251460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503920" y="2514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Tableau, Power BI — P5, P6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924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response time — can we predict it?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3989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281k+ calls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3410712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503920" y="3410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288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call need Advanced Life Support?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6360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classification of ALS need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30682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503920" y="43068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184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weather affect call volume?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5321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enrichment + correlation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520293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503920" y="52029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scraping — P2, P3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calls come 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46504"/>
            <a:ext cx="146304" cy="146304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4523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Life-Threatening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— 176,518 calls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78040" y="2523744"/>
            <a:ext cx="146304" cy="146304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45236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— 89,896 calls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3300984"/>
            <a:ext cx="146304" cy="146304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45236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Life-Threatening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— 69,223 calls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78040" y="4078224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45236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— 14,053 calls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4937760"/>
            <a:ext cx="4434840" cy="1280160"/>
          </a:xfrm>
          <a:prstGeom prst="roundRect">
            <a:avLst>
              <a:gd name="adj" fmla="val 5000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406640" y="50932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specific Call Types roll up into these 4 groups — the primary lens for volume, geography, and modeling.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calls resolve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Final Disposition, all unit-dispatch rows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59317439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500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filter, timestamp conversion, null handling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3672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8264" y="17647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98264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Enrichment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398264" y="23500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 + holidays merged by 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18704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83296" y="17647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083296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2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23500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time, dispatch lag, IQR outlier flags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33649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9502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trends, geography, response-time distributions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33672" y="32004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98264" y="33649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398264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98264" y="39502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 in scikit-learn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18704" y="32004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83296" y="33649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083296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77072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39502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5-sheet workbook: summary, pivots, response stats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" y="49651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13232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5504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report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33672" y="48006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98264" y="49651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398264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398264" y="555040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sheets + combined dashboard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18704" y="48006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83296" y="4965192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8083296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577072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083296" y="557784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all outputs.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outliers — never cap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1.5× IQR bounds are computed at runtime and written as flag columns — the raw CSV keeps every real measured time.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309360" cy="1737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response_time_min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dispatch_lag_min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transport_time_min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6309360" cy="2194560"/>
          </a:xfrm>
          <a:prstGeom prst="roundRect">
            <a:avLst>
              <a:gd name="adj" fmla="val 2917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4023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flag, not cap?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370832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response times crushed model fit — R² dropped from 0.80 to 0.56. Keeping real values and letting Excel, Power BI, and the ML pipeline filter on is_outlier_* == False preserves both data truth and model performance. Negative durations from data inconsistencies fall below the lower fence and are auto-flagged.</a:t>
            </a:r>
            <a:endParaRPr lang="en-US" sz="1150" dirty="0"/>
          </a:p>
        </p:txBody>
      </p:sp>
      <p:sp>
        <p:nvSpPr>
          <p:cNvPr id="5" name="Text 6"/>
          <p:cNvSpPr txBox="1"/>
          <p:nvPr/>
        </p:nvSpPr>
        <p:spPr>
          <a:xfrm>
            <a:off x="717804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derived features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78040" y="229514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response_time_min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487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Scene − Received  —  LR target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78040" y="29535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406640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dispatch_lag_min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3145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− Entry  —  LR feature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361188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406640" y="3557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is_als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803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Unit as 0/1  —  LogR target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78040" y="42702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406640" y="42153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hour_of_day / day_of_week / month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4462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for both models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78040" y="492861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406640" y="48737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5120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or Sunday flag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— LINEAR REGRESSION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response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3756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2648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1540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281,553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450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AA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USED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features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response_time_min (real, uncapped values — outliers flagged, not removed).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call type &amp; group, priority, unit type, hour/day/month, is_weekend, dispatch lag, units per incident, alarms, battalion, neighborhood, plus scraped weather (temperature, precipitation, wind, holiday).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3375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92240" y="35204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R² jumped from 0.56 → 0.80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86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0.56 run used the capped dataset, where ~22k rows were pinned to 23.78 minutes — crushing the linear fit. Switching to real, flag-only values recovered the relationship.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846320"/>
            <a:ext cx="4892040" cy="0"/>
          </a:xfrm>
          <a:prstGeom prst="line">
            <a:avLst/>
          </a:prstGeom>
          <a:noFill/>
          <a:ln w="12700">
            <a:solidFill>
              <a:srgbClr val="3A48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92240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adds &lt; 0.001 to R² — response time is driven by logistics and dispatch, not conditions.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— LOGISTIC REGRESSION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response speed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model: Fast / Moderate / Slow, split at 5 and 10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334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5196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6334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95528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6334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FAST CLASS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698480" cy="2606040"/>
          </a:xfrm>
          <a:prstGeom prst="roundRect">
            <a:avLst>
              <a:gd name="adj" fmla="val 2456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6393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05072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feature set as the linear model. Overall accuracy and F1 are solid, but the classifier is weak on the Fast class (recall 0.24) due to class imbalance — most calls fall into Moderate/Slow buckets, so Fast responses are under-represented in training.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README's original target table predates this final 3-class design (5/10-minute cutoffs); the modeling notebook is the authoritative source for methodology.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explore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64008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9808" y="2478024"/>
            <a:ext cx="82296" cy="82296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22860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KPIs &amp; top call types/neighborhoods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3044952"/>
            <a:ext cx="82296" cy="82296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32688" y="283464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Call Type × Neighborhood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611880"/>
            <a:ext cx="82296" cy="82296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32688" y="340156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Hour of Day × Day of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4178808"/>
            <a:ext cx="82296" cy="82296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3986784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stats by battalion (P90/P95)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4745736"/>
            <a:ext cx="82296" cy="82296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32688" y="4535424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pivot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33672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33672" y="1600200"/>
            <a:ext cx="3520440" cy="640080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233672" y="1600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434840" y="2478024"/>
            <a:ext cx="82296" cy="82296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17720" y="224485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KPI cards, monthly trend 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044952"/>
            <a:ext cx="82296" cy="82296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617720" y="2821764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neighborhood map, drill to station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611880"/>
            <a:ext cx="82296" cy="82296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617720" y="3441316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call type donut, priority mix, hour heatmap, response-time box plot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18704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6F5F3"/>
          </a:solidFill>
          <a:ln w="12700">
            <a:solidFill>
              <a:srgbClr val="E7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18704" y="1600200"/>
            <a:ext cx="3520440" cy="64008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918704" y="1600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119872" y="2478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302752" y="2256329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Trends: volume bars + response-time 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19872" y="304495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02752" y="2836506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Heatmap by final priority, filterable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19872" y="361188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302752" y="336359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Distribution: type group × battalion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19872" y="417880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302752" y="3969056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dashboard with filter actions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Excel Dashboard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38688" cy="4617720"/>
          </a:xfrm>
          <a:prstGeom prst="roundRect">
            <a:avLst>
              <a:gd name="adj" fmla="val 2078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489704" y="181051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EMS EMERGENCY RESPONSE ANALYSIS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1DF8BC9-4580-DEA7-0230-468DDF6C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601" y="1600200"/>
            <a:ext cx="7026249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3DFBE37-8CDE-6527-EB20-ECAB0F62D0C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105339D-A54B-FFAE-2F01-0521A997F810}"/>
              </a:ext>
            </a:extLst>
          </p:cNvPr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BI Dashboard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F367D27E-142E-F346-188F-228FA6364DF5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092F934-AD48-6ABB-057E-6B984D2DE116}"/>
              </a:ext>
            </a:extLst>
          </p:cNvPr>
          <p:cNvSpPr/>
          <p:nvPr/>
        </p:nvSpPr>
        <p:spPr>
          <a:xfrm>
            <a:off x="548640" y="1600200"/>
            <a:ext cx="10838688" cy="4617720"/>
          </a:xfrm>
          <a:prstGeom prst="roundRect">
            <a:avLst>
              <a:gd name="adj" fmla="val 2078"/>
            </a:avLst>
          </a:prstGeom>
          <a:solidFill>
            <a:srgbClr val="2634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1BCEA-0135-DC78-C30B-81995126B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6" y="1600200"/>
            <a:ext cx="10838688" cy="46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0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0EA4B-C9FB-8EE6-E345-B00A5E05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353312"/>
            <a:ext cx="10312400" cy="490430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2833A30-D691-FAD4-829E-7461ECB64AF5}"/>
              </a:ext>
            </a:extLst>
          </p:cNvPr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6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Tableau Dashboard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B17E3AD-34B4-BCD5-3C6C-471153D3E5A0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>
              <a:solidFill>
                <a:srgbClr val="C127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266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1181</Words>
  <Application>Microsoft Office PowerPoint</Application>
  <PresentationFormat>Widescreen</PresentationFormat>
  <Paragraphs>241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Tamer</cp:lastModifiedBy>
  <cp:revision>3</cp:revision>
  <dcterms:created xsi:type="dcterms:W3CDTF">2026-08-31T10:48:47Z</dcterms:created>
  <dcterms:modified xsi:type="dcterms:W3CDTF">2026-08-31T12:35:23Z</dcterms:modified>
</cp:coreProperties>
</file>